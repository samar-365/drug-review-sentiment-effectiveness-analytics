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6111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team! Today we are walking through the core concept, architecture diagrams, and our 8-day sprint execution roadmap. Every member has a clear single-ownership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introduces the project: turning 215k+ unstructured text reviews into structured clinical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system is organized cleanly into 3 tiers: Presentation (Streamlit), Processing (Scikit-Learn/PySpark), and Storage (Joblib models and CSV data).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Shows text tokenization to TF-IDF and our 3-class target mapping (Negative 1-3, Neutral 4-6, Positive 7-10).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benchmark 5 classical ML algorithms against Hugging Face DistilBERT to balance speed and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of our 5 sprint features directly solves a critical technical debt item from our baseline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task has exactly one owner to ensure clear accountability and rapid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Shows our 3-phase execution timeline and our strict Git branching rules to keep code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kick off Day 1! Each member will pull from main, create their feature branch, and begin their Day 1 tasks. Let's open the floor for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HONOURS PROJECT: DATA SCIENCE &amp; HEALTHCARE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Drug Review Sentiment &amp; Effectiveness Analytics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AI-Powered Patient Feedback Intelligence &amp; Clinical Sentiment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74720"/>
            <a:ext cx="246888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3474720"/>
            <a:ext cx="109728" cy="2560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3657600"/>
            <a:ext cx="2148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Samar</a:t>
            </a:r>
          </a:p>
          <a:p>
            <a:pPr>
              <a:spcBef>
                <a:spcPts val="400"/>
              </a:spcBef>
              <a:defRPr sz="1100" b="1">
                <a:solidFill>
                  <a:srgbClr val="0EA5E9"/>
                </a:solidFill>
              </a:defRPr>
            </a:pPr>
            <a:r>
              <a:t>Project Lead &amp; ML Architect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Sample Dataset, Architecture &amp; Releases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474720"/>
            <a:ext cx="246888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66160" y="3474720"/>
            <a:ext cx="109728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60" y="3657600"/>
            <a:ext cx="2148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Manik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Backend &amp; Pipeline Engineer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Model Persistence (joblib), Caching &amp;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246888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3474720"/>
            <a:ext cx="109728" cy="2560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3657600"/>
            <a:ext cx="2148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Vrunali</a:t>
            </a:r>
          </a:p>
          <a:p>
            <a:pPr>
              <a:spcBef>
                <a:spcPts val="400"/>
              </a:spcBef>
              <a:defRPr sz="1100" b="1">
                <a:solidFill>
                  <a:srgbClr val="8B5CF6"/>
                </a:solidFill>
              </a:defRPr>
            </a:pPr>
            <a:r>
              <a:t>Frontend &amp; UI/UX Developer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Streamlit Dashboard, Live Analyzer &amp; UX Polish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3474720"/>
            <a:ext cx="246888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69680" y="3474720"/>
            <a:ext cx="109728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98280" y="3657600"/>
            <a:ext cx="2148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Tejas</a:t>
            </a:r>
          </a:p>
          <a:p>
            <a:pPr>
              <a:spcBef>
                <a:spcPts val="400"/>
              </a:spcBef>
              <a:defRPr sz="1100" b="1">
                <a:solidFill>
                  <a:srgbClr val="F59E0B"/>
                </a:solidFill>
              </a:defRPr>
            </a:pPr>
            <a:r>
              <a:t>ML QA &amp; Integration Engineer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3-Class Sentiment Modeling, Pytest Suite &amp; QA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DRUG REVIEW SENTIMENT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Project Overview: Problem &amp; The Big Picture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728" cy="1188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THE CORE CHALLENGE &amp; OPPORTUNITY: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Patients write 215,000+ reviews online detailing drug effectiveness, nausea, and symptom relief. Reading these manually is impossible. Our NLP platform reads these reviews automatically, classifies patient sentiment, and delivers real-time clinical intelligence to doctors, pharma teams, and patients.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32004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109728" cy="3657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834640"/>
            <a:ext cx="278892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rPr dirty="0"/>
              <a:t>Step 1: Patient Feedback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rPr dirty="0"/>
              <a:t>215k+ Online Reviews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rPr dirty="0"/>
              <a:t>Patients submit reviews describing symptoms, side effects, and ratings (1-10) on Drugs.com.</a:t>
            </a:r>
            <a:endParaRPr lang="en-IN" sz="1000" dirty="0">
              <a:solidFill>
                <a:srgbClr val="64748B"/>
              </a:solidFill>
            </a:endParaRP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rPr lang="en-IN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 take unstructured patient reviews and numerical ratings from real-world data</a:t>
            </a:r>
            <a:r>
              <a:rPr lang="en-IN" sz="1100" b="1" dirty="0"/>
              <a:t>.</a:t>
            </a:r>
            <a:endParaRPr sz="1100" b="1" dirty="0"/>
          </a:p>
        </p:txBody>
      </p:sp>
      <p:sp>
        <p:nvSpPr>
          <p:cNvPr id="12" name="Right Arrow 11"/>
          <p:cNvSpPr/>
          <p:nvPr/>
        </p:nvSpPr>
        <p:spPr>
          <a:xfrm>
            <a:off x="4069080" y="4251960"/>
            <a:ext cx="274320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80559" y="2651760"/>
            <a:ext cx="32004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59" y="2651760"/>
            <a:ext cx="109728" cy="3657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59" y="2834640"/>
            <a:ext cx="2788920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rPr dirty="0"/>
              <a:t>Step 2: AI &amp; NLP Processing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rPr dirty="0"/>
              <a:t>Text -&gt; Intelligence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rPr dirty="0"/>
              <a:t>Our system cleans text, extracts key medical terms, and runs machine learning classifiers</a:t>
            </a:r>
            <a:r>
              <a:rPr lang="en-IN" dirty="0"/>
              <a:t>.	</a:t>
            </a:r>
          </a:p>
          <a:p>
            <a:pPr lvl="0"/>
            <a:r>
              <a:rPr lang="en-IN" sz="1100" b="1" dirty="0"/>
              <a:t>Our AI and NLP pipeline cleans the text and extracts clinical sentiment.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18119" y="4251960"/>
            <a:ext cx="274320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0" y="2651760"/>
            <a:ext cx="32004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2651760"/>
            <a:ext cx="109728" cy="3657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2834640"/>
            <a:ext cx="278892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rPr dirty="0"/>
              <a:t>Step 3: Actionable Insights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rPr dirty="0"/>
              <a:t>Clinical Dashboards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rPr dirty="0"/>
              <a:t>Doctors and researchers see drug rankings, sentiment trends, and side-effect patterns.</a:t>
            </a:r>
            <a:endParaRPr lang="en-IN" dirty="0"/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rPr lang="en-IN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 present actionable dashboards showing drug satisfaction trends, condition rankings, and side-effect signals.</a:t>
            </a:r>
            <a:endParaRPr sz="11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DRUG REVIEW SENTIMENT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System Architecture: 3-Tier Layered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9728" cy="1508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344168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EA5E9"/>
                </a:solidFill>
              </a:defRPr>
            </a:pPr>
            <a:r>
              <a:t>TIER 1: PRESENTATION LAYER (Streamlit Web Dashboard)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app.py: Multi-tab interactive UI (Demo Mode Auto-Banner, File Uploader)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Tab 1: Dataset Analytics &amp; Model Comparison Leaderboard (Matplotlib / Seaborn)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Tab 2: Live Review Analyzer (Real-time single-review scoring &amp; confidence progress bars)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43600" y="2724912"/>
            <a:ext cx="228600" cy="201168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698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9728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035808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TIER 2: PROCESSING &amp; MACHINE LEARNING ENGINE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Scikit-Learn Pipeline (ml_pipeline/): TF-IDF Vectorizer, BaseSentimentModel wrapper &amp; utils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Transformers (hf_sentiment.py): Hugging Face DistilBERT pipeline for deep contextual NLP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Distributed PySpark Engine (src/ &amp; main.py): PySpark MLlib for big data batch scaling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4416552"/>
            <a:ext cx="228600" cy="201168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10698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617720"/>
            <a:ext cx="109728" cy="1508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727448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8B5CF6"/>
                </a:solidFill>
              </a:defRPr>
            </a:pPr>
            <a:r>
              <a:t>TIER 3: DATA &amp; PERSISTENCE STORAGE LAYER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Datasets (data/): 1,000-row sample dataset (data/sample/) &amp; raw full CSVs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Serialized Artifacts (models/): Pre-trained .joblib model files &amp; vectorizers for fast loading (&lt; 2s)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Structured Logging: streamlit_app.log &amp; pipeline.log with execution latency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DRUG REVIEW SENTIMENT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NLP Feature Pipeline &amp; 3-Class Sentiment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9728" cy="5029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4754880" cy="4473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rPr dirty="0"/>
              <a:t>TEXT TRANSFORMATION PIPELINE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rPr dirty="0"/>
              <a:t>• 1. Raw Patient Narrative: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dirty="0"/>
              <a:t>  Example: "Worked amazing for my migraines, but caused slight nausea."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rPr dirty="0"/>
              <a:t>• 2. Cleaning &amp; HTML </a:t>
            </a:r>
            <a:r>
              <a:rPr dirty="0" err="1"/>
              <a:t>Unescape</a:t>
            </a:r>
            <a:r>
              <a:rPr dirty="0"/>
              <a:t>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dirty="0"/>
              <a:t>  </a:t>
            </a:r>
            <a:r>
              <a:rPr dirty="0" err="1"/>
              <a:t>BeautifulSoup</a:t>
            </a:r>
            <a:r>
              <a:rPr dirty="0"/>
              <a:t> </a:t>
            </a:r>
            <a:r>
              <a:rPr dirty="0" err="1"/>
              <a:t>unescapes</a:t>
            </a:r>
            <a:r>
              <a:rPr dirty="0"/>
              <a:t> &amp;#039; -&gt; ', regex removes special symbols &amp; noise.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rPr dirty="0"/>
              <a:t>• 3. TF-IDF Tokenization: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dirty="0"/>
              <a:t>  Extracts 10,000 most significant unigrams &amp; bigrams, removes </a:t>
            </a:r>
            <a:r>
              <a:rPr dirty="0" err="1"/>
              <a:t>stopwords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rPr dirty="0"/>
              <a:t>• 4. Feature Matrix: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dirty="0"/>
              <a:t>  Outputs high-dimensional numerical sparse matrix ready for ML models.</a:t>
            </a:r>
            <a:endParaRPr lang="en-IN" dirty="0"/>
          </a:p>
          <a:p>
            <a:pPr>
              <a:defRPr sz="950">
                <a:solidFill>
                  <a:srgbClr val="64748B"/>
                </a:solidFill>
              </a:defRPr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Raw patient text comes in.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We use </a:t>
            </a:r>
            <a:r>
              <a:rPr lang="en-IN" sz="1600" dirty="0" err="1"/>
              <a:t>BeautifulSoup</a:t>
            </a:r>
            <a:r>
              <a:rPr lang="en-IN" sz="1600" dirty="0"/>
              <a:t>(web scraping </a:t>
            </a:r>
            <a:r>
              <a:rPr lang="en-IN" sz="1600" dirty="0" err="1"/>
              <a:t>py</a:t>
            </a:r>
            <a:r>
              <a:rPr lang="en-IN" sz="1600" dirty="0"/>
              <a:t> lib) and regular expressions to strip HTML entities like &amp;#039; and clean punctuation.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We use </a:t>
            </a:r>
            <a:r>
              <a:rPr lang="en-IN" sz="1600" dirty="0" err="1"/>
              <a:t>TfidfVectorizer</a:t>
            </a:r>
            <a:r>
              <a:rPr lang="en-IN" sz="1600" dirty="0"/>
              <a:t> to extract the top 10,000 most meaningful word tokens and n-grams while filtering English stop words.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This produces a high-dimensional feature matrix ready for our classifiers.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109728" cy="502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3-CLASS SENTIMENT TARGET ENGINE</a:t>
            </a:r>
          </a:p>
          <a:p>
            <a:pPr>
              <a:spcBef>
                <a:spcPts val="1000"/>
              </a:spcBef>
              <a:defRPr sz="1100" b="1">
                <a:solidFill>
                  <a:srgbClr val="EF4444"/>
                </a:solidFill>
              </a:defRPr>
            </a:pPr>
            <a:r>
              <a:t>🔴 Negative (Class 0): Ratings 1.0 – 3.0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Ineffective treatment, severe adverse reactions, patient complaints.</a:t>
            </a:r>
          </a:p>
          <a:p>
            <a:pPr>
              <a:spcBef>
                <a:spcPts val="1000"/>
              </a:spcBef>
              <a:defRPr sz="1100" b="1">
                <a:solidFill>
                  <a:srgbClr val="F59E0B"/>
                </a:solidFill>
              </a:defRPr>
            </a:pPr>
            <a:r>
              <a:t>🟡 Neutral (Class 1): Ratings 4.0 – 6.0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Moderate effectiveness, manageable side effects, mixed outcomes.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🟢 Positive (Class 2): Ratings 7.0 – 10.0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High satisfaction, quick symptom relief, strong recommendation.</a:t>
            </a:r>
          </a:p>
          <a:p>
            <a:pPr>
              <a:spcBef>
                <a:spcPts val="1200"/>
              </a:spcBef>
              <a:defRPr sz="950" b="1">
                <a:solidFill>
                  <a:srgbClr val="1E293B"/>
                </a:solidFill>
              </a:defRPr>
            </a:pPr>
            <a:r>
              <a:t>⭐ Why 3-Class? Binary classification (Positive vs Negative) distorts middle ratings (4-6). 3-Class modeling accurately captures nuanced clinical feedback.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DRUG REVIEW SENTIMENT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Machine Learning Algorithms Benchmarked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9728" cy="2286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17319"/>
            <a:ext cx="301752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rPr dirty="0"/>
              <a:t>Logistic Regression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rPr dirty="0"/>
              <a:t>Linear Baseline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rPr dirty="0"/>
              <a:t>Fast, interpretable, L2-regularized linear model. Primary low-latency baseline.</a:t>
            </a:r>
            <a:endParaRPr lang="en-IN" dirty="0"/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rPr lang="en-IN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(Our fast, interpretable L2-regularized linear baseline.)</a:t>
            </a:r>
            <a:endParaRPr sz="11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109728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417319"/>
            <a:ext cx="301752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rPr dirty="0"/>
              <a:t>Multinomial Naive Bayes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rPr dirty="0"/>
              <a:t>Probabilistic NLP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rPr dirty="0"/>
              <a:t>Fast probabilistic classifier modeling word frequencies across sparse TF-IDF.</a:t>
            </a:r>
            <a:endParaRPr lang="en-IN" dirty="0"/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rPr lang="en-IN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(Highly efficient for sparse text word frequencies)</a:t>
            </a:r>
            <a:endParaRPr sz="11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955280" y="128016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55280" y="1280160"/>
            <a:ext cx="109728" cy="228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80" y="1417319"/>
            <a:ext cx="3017520" cy="1610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rPr dirty="0"/>
              <a:t>Random Forest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rPr dirty="0"/>
              <a:t>Ensemble of Trees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rPr dirty="0"/>
              <a:t>100 decision trees evaluating non-linear feature combinations and word interactions.</a:t>
            </a:r>
            <a:endParaRPr lang="en-IN" dirty="0"/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rPr lang="en-IN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popular supervised machine learning algorithm that combines many individual decision trees to make more accurate and stable predictions</a:t>
            </a:r>
            <a:endParaRPr sz="11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109728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886200"/>
            <a:ext cx="3017520" cy="1441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rPr dirty="0"/>
              <a:t>Gradient Boosted Trees</a:t>
            </a:r>
            <a:r>
              <a:rPr lang="en-IN" dirty="0"/>
              <a:t>(DL)</a:t>
            </a:r>
            <a:endParaRPr dirty="0"/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rPr dirty="0"/>
              <a:t>Boosted Trees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rPr dirty="0"/>
              <a:t>Sequentially trained decision trees with inverse class weighting for imbalance.</a:t>
            </a:r>
            <a:endParaRPr lang="en-IN" dirty="0"/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rPr lang="en-IN" sz="1100" b="1" dirty="0">
                <a:solidFill>
                  <a:srgbClr val="64748B"/>
                </a:solidFill>
              </a:rPr>
              <a:t>(</a:t>
            </a:r>
            <a:r>
              <a:rPr lang="en-IN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builds multiple decision trees sequentially, with each new tree trained to predict and correct the errors (residuals) of the previous ones)</a:t>
            </a:r>
            <a:endParaRPr sz="11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343400" y="3749039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43400" y="3749039"/>
            <a:ext cx="109728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3886200"/>
            <a:ext cx="3017520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rPr dirty="0"/>
              <a:t>Support Vector Machine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rPr dirty="0"/>
              <a:t>Margin Classifier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rPr dirty="0"/>
              <a:t>Kernel-based margin classifier with calibrated probabilities for smooth confidence.</a:t>
            </a:r>
            <a:endParaRPr lang="en-IN" dirty="0"/>
          </a:p>
          <a:p>
            <a:pPr lvl="0"/>
            <a:r>
              <a:rPr lang="en-IN" sz="1100" b="1" dirty="0"/>
              <a:t>(A margin classifier with calibrated probabilities for smooth confidence scoring.)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749039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55280" y="3749039"/>
            <a:ext cx="109728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80" y="3886200"/>
            <a:ext cx="301752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rPr dirty="0" err="1"/>
              <a:t>DistilBERT</a:t>
            </a:r>
            <a:r>
              <a:rPr dirty="0"/>
              <a:t> Transformer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rPr dirty="0"/>
              <a:t>Deep Learning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rPr dirty="0"/>
              <a:t>66M parameter pre-trained contextual transformer from Hugging Face for nuanced semantics.</a:t>
            </a:r>
            <a:endParaRPr lang="en-IN" dirty="0"/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rPr lang="en-IN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(deep learning model for nuanced sentence-level semantics)</a:t>
            </a:r>
            <a:endParaRPr sz="11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DRUG REVIEW SENTIMENT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1.5-Week Lean Sprint: Problems &amp; Direct Solutions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9728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241280" cy="441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rPr dirty="0"/>
              <a:t>Problem: App Freezes on Retraining  ➔  Solution: Pre-trained Model Persistence (.</a:t>
            </a:r>
            <a:r>
              <a:rPr dirty="0" err="1"/>
              <a:t>joblib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rPr dirty="0"/>
              <a:t>Manik | Save models to disk &amp; load instantly via @st.cache_resource (&lt; 2s).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109728" cy="960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359152"/>
            <a:ext cx="10241280" cy="441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EA5E9"/>
                </a:solidFill>
              </a:defRPr>
            </a:pPr>
            <a:r>
              <a:rPr dirty="0"/>
              <a:t>Problem: Blank App Startup  ➔  Solution: Bundled 1,000-Row Sample Dataset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rPr dirty="0"/>
              <a:t>Samar | Curate data/sample/ so the app works instantly out of the box in Demo 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337560"/>
            <a:ext cx="109728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410712"/>
            <a:ext cx="10241280" cy="441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</a:defRPr>
            </a:pPr>
            <a:r>
              <a:rPr dirty="0"/>
              <a:t>Problem: Binary Distortion (4-6)  ➔  Solution: 3-Class Sentiment Modeling Engine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rPr dirty="0"/>
              <a:t>Tejas | Accurately classify Negative (1-3), Neutral (4-6), and Positive (7-10) reviews.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389120"/>
            <a:ext cx="10972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462272"/>
            <a:ext cx="10241280" cy="441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8B5CF6"/>
                </a:solidFill>
              </a:defRPr>
            </a:pPr>
            <a:r>
              <a:rPr dirty="0"/>
              <a:t>Problem: No Single-Review Testing  ➔  Solution: Live Review Analyzer UI Tab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rPr dirty="0"/>
              <a:t>Vrunali | Interactive text box to test custom sentences with instant confidence progress bars.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40679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5440679"/>
            <a:ext cx="109728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513831"/>
            <a:ext cx="10241280" cy="441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F4444"/>
                </a:solidFill>
              </a:defRPr>
            </a:pPr>
            <a:r>
              <a:rPr dirty="0"/>
              <a:t>Problem: Fragile Test Suite  ➔  Solution: Automated Self-Contained </a:t>
            </a:r>
            <a:r>
              <a:rPr dirty="0" err="1"/>
              <a:t>Pytest</a:t>
            </a:r>
            <a:r>
              <a:rPr dirty="0"/>
              <a:t> Suite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rPr dirty="0"/>
              <a:t>Tejas | Build synthetic mock fixtures ensuring 100% test pass rate in &lt; 5 seconds.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B5ABE4-BCED-143B-34AC-50493432750E}"/>
              </a:ext>
            </a:extLst>
          </p:cNvPr>
          <p:cNvSpPr txBox="1"/>
          <p:nvPr/>
        </p:nvSpPr>
        <p:spPr>
          <a:xfrm>
            <a:off x="1014984" y="1691631"/>
            <a:ext cx="102412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50" b="1" dirty="0"/>
              <a:t>Problem:</a:t>
            </a:r>
            <a:r>
              <a:rPr lang="en-IN" sz="1050" dirty="0"/>
              <a:t> The app re-trains models on every click, freezing the UI for minutes.</a:t>
            </a:r>
            <a:br>
              <a:rPr lang="en-IN" sz="1050" dirty="0"/>
            </a:br>
            <a:r>
              <a:rPr lang="en-IN" sz="1050" b="1" dirty="0"/>
              <a:t>Solution:</a:t>
            </a:r>
            <a:r>
              <a:rPr lang="en-IN" sz="1050" dirty="0"/>
              <a:t> Manik is implementing .</a:t>
            </a:r>
            <a:r>
              <a:rPr lang="en-IN" sz="1050" dirty="0" err="1"/>
              <a:t>joblib</a:t>
            </a:r>
            <a:r>
              <a:rPr lang="en-IN" sz="1050" dirty="0"/>
              <a:t> model persistence with @st.cache_resource to load models in under 2 seconds.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67ED9F-8B18-41C8-DE87-4CF4CB9BBC9C}"/>
              </a:ext>
            </a:extLst>
          </p:cNvPr>
          <p:cNvSpPr txBox="1"/>
          <p:nvPr/>
        </p:nvSpPr>
        <p:spPr>
          <a:xfrm>
            <a:off x="1005840" y="2745762"/>
            <a:ext cx="1024128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Problem:</a:t>
            </a:r>
            <a:r>
              <a:rPr lang="en-IN" sz="1050" dirty="0"/>
              <a:t> The dashboard opens blank, requiring a 100MB download.</a:t>
            </a:r>
            <a:br>
              <a:rPr lang="en-IN" sz="1050" dirty="0"/>
            </a:br>
            <a:r>
              <a:rPr lang="en-IN" sz="1050" b="1" dirty="0"/>
              <a:t>Solution:</a:t>
            </a:r>
            <a:r>
              <a:rPr lang="en-IN" sz="1050" dirty="0"/>
              <a:t> I am curating a 1,000-row sample dataset in data/sample/ so the app runs instantly in Demo Mode.</a:t>
            </a:r>
          </a:p>
          <a:p>
            <a:pPr lvl="0"/>
            <a:r>
              <a:rPr lang="en-IN" sz="1050" dirty="0"/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A53ABB-F8C2-7046-9C9E-A1DC099730EE}"/>
              </a:ext>
            </a:extLst>
          </p:cNvPr>
          <p:cNvSpPr txBox="1"/>
          <p:nvPr/>
        </p:nvSpPr>
        <p:spPr>
          <a:xfrm>
            <a:off x="1014984" y="3817620"/>
            <a:ext cx="102412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50" b="1" dirty="0"/>
              <a:t>Problem:</a:t>
            </a:r>
            <a:r>
              <a:rPr lang="en-IN" sz="1050" dirty="0"/>
              <a:t> Binary ratings distort neutral reviews.</a:t>
            </a:r>
            <a:br>
              <a:rPr lang="en-IN" sz="1050" dirty="0"/>
            </a:br>
            <a:r>
              <a:rPr lang="en-IN" sz="1050" b="1" dirty="0"/>
              <a:t>Solution:</a:t>
            </a:r>
            <a:r>
              <a:rPr lang="en-IN" sz="1050" dirty="0"/>
              <a:t> Tejas is building the 3-class sentiment engine..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0F561E-F7BF-32B8-CF8D-A02AA09091C8}"/>
              </a:ext>
            </a:extLst>
          </p:cNvPr>
          <p:cNvSpPr txBox="1"/>
          <p:nvPr/>
        </p:nvSpPr>
        <p:spPr>
          <a:xfrm>
            <a:off x="1005840" y="4869180"/>
            <a:ext cx="10241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50" b="1" dirty="0"/>
              <a:t>Problem:</a:t>
            </a:r>
            <a:r>
              <a:rPr lang="en-IN" sz="1050" dirty="0"/>
              <a:t> Users cannot test a single review in the UI.</a:t>
            </a:r>
            <a:br>
              <a:rPr lang="en-IN" sz="1050" dirty="0"/>
            </a:br>
            <a:r>
              <a:rPr lang="en-IN" sz="1050" b="1" dirty="0"/>
              <a:t>Solution:</a:t>
            </a:r>
            <a:r>
              <a:rPr lang="en-IN" sz="1050" dirty="0"/>
              <a:t> Vrunali is building the Live Review Analyzer tab.</a:t>
            </a:r>
          </a:p>
          <a:p>
            <a:br>
              <a:rPr lang="en-IN" sz="1050" dirty="0"/>
            </a:br>
            <a:r>
              <a:rPr lang="en-IN" sz="1050" dirty="0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E3F393-8141-ABE2-E74C-6FDFED345E6E}"/>
              </a:ext>
            </a:extLst>
          </p:cNvPr>
          <p:cNvSpPr txBox="1"/>
          <p:nvPr/>
        </p:nvSpPr>
        <p:spPr>
          <a:xfrm>
            <a:off x="1014984" y="5920739"/>
            <a:ext cx="10241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50" b="1" dirty="0"/>
              <a:t>Problem:</a:t>
            </a:r>
            <a:r>
              <a:rPr lang="en-IN" sz="1050" dirty="0"/>
              <a:t> The test suite crashes if external files are missing.</a:t>
            </a:r>
            <a:br>
              <a:rPr lang="en-IN" sz="1050" dirty="0"/>
            </a:br>
            <a:r>
              <a:rPr lang="en-IN" sz="1050" b="1" dirty="0"/>
              <a:t>Solution:</a:t>
            </a:r>
            <a:r>
              <a:rPr lang="en-IN" sz="1050" dirty="0"/>
              <a:t> Tejas is building a self-contained </a:t>
            </a:r>
            <a:r>
              <a:rPr lang="en-IN" sz="1050" dirty="0" err="1"/>
              <a:t>Pytest</a:t>
            </a:r>
            <a:r>
              <a:rPr lang="en-IN" sz="1050" dirty="0"/>
              <a:t> suite with mock fixtures."</a:t>
            </a:r>
          </a:p>
          <a:p>
            <a:br>
              <a:rPr lang="en-IN" sz="1050" dirty="0"/>
            </a:br>
            <a:endParaRPr lang="en-IN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DRUG REVIEW SENTIMENT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Single-Ownership Team Responsibility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9728" cy="5029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2240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</a:defRPr>
            </a:pPr>
            <a:r>
              <a:t>Samar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t>Project Lead &amp; ML Architect</a:t>
            </a:r>
          </a:p>
          <a:p>
            <a:pPr>
              <a:spcBef>
                <a:spcPts val="800"/>
              </a:spcBef>
              <a:defRPr sz="900" b="1">
                <a:solidFill>
                  <a:srgbClr val="64748B"/>
                </a:solidFill>
              </a:defRPr>
            </a:pPr>
            <a:r>
              <a:t>CORE DELIVERABLES: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Curate 1,000-row sample dataset (data/sample/)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Code reviews, PR merges to develop &amp; main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Clean legacy hardcoded developer paths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Clinical edge case validation &amp; release tagging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8016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9000" y="1280160"/>
            <a:ext cx="109728" cy="502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1417320"/>
            <a:ext cx="2240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Manik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t>Backend &amp; Pipeline Engineer</a:t>
            </a:r>
          </a:p>
          <a:p>
            <a:pPr>
              <a:spcBef>
                <a:spcPts val="800"/>
              </a:spcBef>
              <a:defRPr sz="900" b="1">
                <a:solidFill>
                  <a:srgbClr val="64748B"/>
                </a:solidFill>
              </a:defRPr>
            </a:pPr>
            <a:r>
              <a:t>CORE DELIVERABLES: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Model serialization (joblib save/load)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Streamlit @st.cache_resource caching layer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Single-review inference helper function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Input validation &amp; memory profiling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109728" cy="5029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417320"/>
            <a:ext cx="2240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B5CF6"/>
                </a:solidFill>
              </a:defRPr>
            </a:pPr>
            <a:r>
              <a:t>Vrunali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t>Frontend &amp; UI/UX Developer</a:t>
            </a:r>
          </a:p>
          <a:p>
            <a:pPr>
              <a:spcBef>
                <a:spcPts val="800"/>
              </a:spcBef>
              <a:defRPr sz="900" b="1">
                <a:solidFill>
                  <a:srgbClr val="64748B"/>
                </a:solidFill>
              </a:defRPr>
            </a:pPr>
            <a:r>
              <a:t>CORE DELIVERABLES: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Multi-tab Streamlit redesign (Analytics vs Live)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Demo mode auto-detection banner UI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Real-time sentiment score cards &amp; confidence bars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Responsive testing, tooltips &amp; UI polish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28016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23960" y="1280160"/>
            <a:ext cx="109728" cy="5029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1417320"/>
            <a:ext cx="2240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Tejas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t>ML QA &amp; Integration Engineer</a:t>
            </a:r>
          </a:p>
          <a:p>
            <a:pPr>
              <a:spcBef>
                <a:spcPts val="800"/>
              </a:spcBef>
              <a:defRPr sz="900" b="1">
                <a:solidFill>
                  <a:srgbClr val="64748B"/>
                </a:solidFill>
              </a:defRPr>
            </a:pPr>
            <a:r>
              <a:t>CORE DELIVERABLES: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3-class sentiment target mapping &amp; metrics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Synthetic mock DataFrame fixtures (conftest.py)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Pytest unit &amp; integration test suites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Boundary exception testing &amp; QA sign-off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DRUG REVIEW SENTIMENT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8-Day Sprint Roadmap &amp; Git Collaboration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9728" cy="2011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Phase 1: Build (Days 1–4)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Sample CSV, Joblib Persistence, Live UI Wireframe, 3-Class ML &amp; Mock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109728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3716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Phase 2: Integrate (Day 5)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Merge to develop, wire UI to backend inference &amp; run end-to-end integration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109728" cy="2011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3716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Phase 3: QA &amp; Release (Days 6–8)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Clinical edge testing, memory profiling, legacy path cleanup, QA sign-off &amp; main release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20440"/>
            <a:ext cx="106984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520440"/>
            <a:ext cx="109728" cy="2834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65760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GIT WORKFLOW &amp; TEAM QUALITY RULES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1. Feature Branches: feature/&lt;developer&gt;-&lt;task-name&gt; (Isolated development)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2. Test-First Rule: Run pytest locally; 100% passing tests required before opening PR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3. PR Code Reviews: Samar reviews diffs (&lt; 300 lines) and merges into develop branch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4. Release on Day 8: develop is merged into main and tagged v1.1.0-lean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NEXT STEPS &amp; IMMEDIATE ACTION ITEMS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Sprint Kickoff: Immediate Day 1 Action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109728" cy="3931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Samar</a:t>
            </a:r>
          </a:p>
          <a:p>
            <a:pPr>
              <a:spcBef>
                <a:spcPts val="200"/>
              </a:spcBef>
              <a:defRPr sz="1000" b="1">
                <a:solidFill>
                  <a:srgbClr val="0EA5E9"/>
                </a:solidFill>
              </a:defRPr>
            </a:pPr>
            <a:r>
              <a:t>Project Lead</a:t>
            </a:r>
          </a:p>
          <a:p>
            <a:pPr>
              <a:spcBef>
                <a:spcPts val="1000"/>
              </a:spcBef>
              <a:defRPr sz="900" b="1">
                <a:solidFill>
                  <a:srgbClr val="94A3B8"/>
                </a:solidFill>
              </a:defRPr>
            </a:pPr>
            <a:r>
              <a:t>IMMEDIATE DAY 1 GOAL: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</a:defRPr>
            </a:pPr>
            <a:r>
              <a:t>Initialize feature branches, invite team members &amp; curate sample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10312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66160" y="2103120"/>
            <a:ext cx="109728" cy="3931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228600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Manik</a:t>
            </a:r>
          </a:p>
          <a:p>
            <a:pPr>
              <a:spcBef>
                <a:spcPts val="200"/>
              </a:spcBef>
              <a:defRPr sz="1000" b="1">
                <a:solidFill>
                  <a:srgbClr val="10B981"/>
                </a:solidFill>
              </a:defRPr>
            </a:pPr>
            <a:r>
              <a:t>Backend ML</a:t>
            </a:r>
          </a:p>
          <a:p>
            <a:pPr>
              <a:spcBef>
                <a:spcPts val="1000"/>
              </a:spcBef>
              <a:defRPr sz="900" b="1">
                <a:solidFill>
                  <a:srgbClr val="94A3B8"/>
                </a:solidFill>
              </a:defRPr>
            </a:pPr>
            <a:r>
              <a:t>IMMEDIATE DAY 1 GOAL: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</a:defRPr>
            </a:pPr>
            <a:r>
              <a:t>Set up virtualenv, audit ml_pipeline/ &amp; design joblib persistence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103120"/>
            <a:ext cx="109728" cy="3931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Vrunali</a:t>
            </a:r>
          </a:p>
          <a:p>
            <a:pPr>
              <a:spcBef>
                <a:spcPts val="200"/>
              </a:spcBef>
              <a:defRPr sz="1000" b="1">
                <a:solidFill>
                  <a:srgbClr val="8B5CF6"/>
                </a:solidFill>
              </a:defRPr>
            </a:pPr>
            <a:r>
              <a:t>Frontend UI</a:t>
            </a:r>
          </a:p>
          <a:p>
            <a:pPr>
              <a:spcBef>
                <a:spcPts val="1000"/>
              </a:spcBef>
              <a:defRPr sz="900" b="1">
                <a:solidFill>
                  <a:srgbClr val="94A3B8"/>
                </a:solidFill>
              </a:defRPr>
            </a:pPr>
            <a:r>
              <a:t>IMMEDIATE DAY 1 GOAL: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</a:defRPr>
            </a:pPr>
            <a:r>
              <a:t>Launch Streamlit locally, audit UI bottlenecks &amp; wireframe multi-tab layout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10312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69680" y="2103120"/>
            <a:ext cx="109728" cy="3931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59" y="228600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Tejas</a:t>
            </a:r>
          </a:p>
          <a:p>
            <a:pPr>
              <a:spcBef>
                <a:spcPts val="200"/>
              </a:spcBef>
              <a:defRPr sz="1000" b="1">
                <a:solidFill>
                  <a:srgbClr val="F59E0B"/>
                </a:solidFill>
              </a:defRPr>
            </a:pPr>
            <a:r>
              <a:t>ML &amp; QA</a:t>
            </a:r>
          </a:p>
          <a:p>
            <a:pPr>
              <a:spcBef>
                <a:spcPts val="1000"/>
              </a:spcBef>
              <a:defRPr sz="900" b="1">
                <a:solidFill>
                  <a:srgbClr val="94A3B8"/>
                </a:solidFill>
              </a:defRPr>
            </a:pPr>
            <a:r>
              <a:t>IMMEDIATE DAY 1 GOAL: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</a:defRPr>
            </a:pPr>
            <a:r>
              <a:t>Audit test suite, build synthetic mock DataFrame fixtures in conftest.py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1810</Words>
  <Application>Microsoft Office PowerPoint</Application>
  <PresentationFormat>Widescreen</PresentationFormat>
  <Paragraphs>185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Samar Shetye</cp:lastModifiedBy>
  <cp:revision>4</cp:revision>
  <dcterms:created xsi:type="dcterms:W3CDTF">2013-01-27T09:14:16Z</dcterms:created>
  <dcterms:modified xsi:type="dcterms:W3CDTF">2026-09-24T14:31:12Z</dcterms:modified>
  <cp:category/>
</cp:coreProperties>
</file>