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4" y="-2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94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team! Today we are walking through the core concept, architecture diagrams, and our 8-day sprint execution roadmap. Every member has a clear single-ownership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breaks down the project into 3 simple steps: Patients share experiences, our AI processes the text, and healthcare teams get actionable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complete 5-stage pipeline flow: from when the user inputs a review to when predictions, metrics, and visual trends are rendered on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system is organized cleanly into 3 architectural tiers: Presentation Layer (Streamlit), Processing &amp; ML Engine (Scikit-Learn/PySpark), and Storage/Artifacts Layer (joblib &amp; CSVs).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how text is converted into numbers via TF-IDF, and explains why we upgraded from binary to 3-class sentiment modeling (Negative 1-3, Neutral 4-6, Positive 7-10).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benchmark 5 classical ML algorithms against Hugging Face DistilBERT. This allows us to compare inference speed, RAM usage, and classification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clearly pairs every existing technical problem with its direct sprint solution. This gives the team a crisp understanding of why these 5 features were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task has a single owner. Samar handles sample data and release coordination; Manik builds model persistence and caching; Vrunali develops the UI and Live Analyzer; Tejas builds the 3-class engine and test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8-day sprint is divided into 3 clear phases: Phase 1 builds components in parallel, Phase 2 integrates them on Day 5, and Phase 3 is dedicated to rigorous QA and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Git flow guarantees code stability: Developers work on feature branches, test locally, get code reviewed by Samar, merge into develop, and release to main on Day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4 future pillars represent our long-term vision. They are deferred past Day 8 so the team remains strictly focused on our 1.5-week core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kick off Day 1! Each member will pull from main, create their feature branch, and begin their Day 1 tasks. Let's open the floor for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HONOURS PROJECT: DATA SCIENCE &amp; HEALTHCARE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Drug Review Sentiment &amp; Effectiveness Analytics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AI-Powered Patient Feedback Intelligence &amp; Clinical Sentiment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2468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109728" cy="2560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65760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Samar</a:t>
            </a:r>
          </a:p>
          <a:p>
            <a:pPr>
              <a:spcBef>
                <a:spcPts val="400"/>
              </a:spcBef>
              <a:defRPr sz="1100" b="1">
                <a:solidFill>
                  <a:srgbClr val="0EA5E9"/>
                </a:solidFill>
              </a:defRPr>
            </a:pPr>
            <a:r>
              <a:t>Project Lead &amp; ML Architect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Sample Dataset, Architecture &amp; Releases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474720"/>
            <a:ext cx="2468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66160" y="3474720"/>
            <a:ext cx="109728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365760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Manik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Backend &amp; Pipeline Engineer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Model Persistence (joblib), Caching &amp;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2468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3474720"/>
            <a:ext cx="109728" cy="2560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Vrunali</a:t>
            </a:r>
          </a:p>
          <a:p>
            <a:pPr>
              <a:spcBef>
                <a:spcPts val="400"/>
              </a:spcBef>
              <a:defRPr sz="1100" b="1">
                <a:solidFill>
                  <a:srgbClr val="8B5CF6"/>
                </a:solidFill>
              </a:defRPr>
            </a:pPr>
            <a:r>
              <a:t>Frontend &amp; UI/UX Developer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Streamlit Dashboard, Live Analyzer &amp; UX Polish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474720"/>
            <a:ext cx="2468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0" y="3474720"/>
            <a:ext cx="109728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365760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Tejas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ML QA &amp; Integration Engineer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3-Class Sentiment Modeling, Pytest Suite &amp;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Project Overview: In Simple Plain English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728" cy="1188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THE BIG IDEA: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Patients write thousands of reviews online about their medications (side-effects, effectiveness, and symptoms). Reading 215,000+ reviews by hand is impossible. Our software uses AI and NLP to read reviews automatically and tell doctors &amp; pharmaceutical researchers exactly what patients think.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9728" cy="3657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Step 1: Patient Feedback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215k+ Reviews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Patients submit reviews describing symptoms, side effects, and ratings (1-10) on Drugs.com.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4251960"/>
            <a:ext cx="27432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59" y="265176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59" y="2651760"/>
            <a:ext cx="109728" cy="3657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59" y="283464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Step 2: AI &amp; NLP Processing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Text -&gt; Intelligence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Our system cleans the text, extracts key medical terms, and runs machine learning classifiers.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19" y="4251960"/>
            <a:ext cx="27432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0" y="265176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651760"/>
            <a:ext cx="109728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83464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3: Actionable Insights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Clinical Dashboards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Doctors and pharma teams see drug rankings, sentiment trends, and side-effect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End-to-End User Workflow &amp;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965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502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691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1. User Input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Upload CSV or Type Live Review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</a:defRPr>
            </a:pPr>
            <a:r>
              <a:t>User loads dataset or pastes single review in Streamlit UI.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61488" y="3657600"/>
            <a:ext cx="164592" cy="201168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1800" y="1280160"/>
            <a:ext cx="1965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0" y="1280160"/>
            <a:ext cx="109728" cy="502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1463040"/>
            <a:ext cx="1691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2. Text Cleaning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HTML &amp; Stopwords Removal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</a:defRPr>
            </a:pPr>
            <a:r>
              <a:t>TextPreprocessor strips noise, escapes HTML &amp; normalizes text.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01768" y="3657600"/>
            <a:ext cx="164592" cy="201168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12080" y="1280160"/>
            <a:ext cx="1965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0" y="1280160"/>
            <a:ext cx="109728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1463040"/>
            <a:ext cx="1691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TF-IDF Vectors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10,000 Key Features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</a:defRPr>
            </a:pPr>
            <a:r>
              <a:t>Converts word occurrences into numerical feature matrices.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42048" y="3657600"/>
            <a:ext cx="164592" cy="201168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52360" y="1280160"/>
            <a:ext cx="1965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1280160"/>
            <a:ext cx="109728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1463040"/>
            <a:ext cx="1691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4. ML Inference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Multi-Model Prediction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</a:defRPr>
            </a:pPr>
            <a:r>
              <a:t>Classifiers predict sentiment class + confidence probabilities.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82328" y="3657600"/>
            <a:ext cx="164592" cy="201168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92640" y="1280160"/>
            <a:ext cx="1965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92640" y="1280160"/>
            <a:ext cx="109728" cy="5029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1463040"/>
            <a:ext cx="1691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5. Insights &amp; Export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Charts &amp; CSV Export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</a:defRPr>
            </a:pPr>
            <a:r>
              <a:t>Leaderboard, confusion matrix, time trends &amp; downloadable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System Architecture: 3-Tier Layered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344168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EA5E9"/>
                </a:solidFill>
              </a:defRPr>
            </a:pPr>
            <a:r>
              <a:t>TIER 1: PRESENTATION LAYER (Streamlit Web Dashboard)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app.py: Multi-tab interactive user interface (Demo Mode Banner, File Uploader)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Tab 1: Dataset Analytics &amp; Model Comparison Leaderboard (Matplotlib / Seaborn)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Tab 2: Live Review Analyzer (Real-time single-review scoring &amp; confidence progress bars)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724912"/>
            <a:ext cx="228600" cy="201168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972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TIER 2: PIPELINE &amp; MACHINE LEARNING ENGINE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Scikit-Learn Pipeline (ml_pipeline/): TF-IDF Vectorizer, BaseSentimentModel wrapper &amp; utils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Transformers (hf_sentiment.py): Hugging Face DistilBERT pipeline for deep context NLP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Distributed PySpark Engine (src/ &amp; main.py): PySpark MLlib for big data batch scaling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4416552"/>
            <a:ext cx="228600" cy="201168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109728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8B5CF6"/>
                </a:solidFill>
              </a:defRPr>
            </a:pPr>
            <a:r>
              <a:t>TIER 3: DATA &amp; PERSISTENCE STORAGE LAYER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Datasets (data/): 1,000-row sample dataset (data/sample/) &amp; raw full CSVs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Serialized Artifacts (models/): Pre-trained .joblib model files &amp; vectorizers for fast loading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Structured Logging: streamlit_app.log &amp; pipeline.log with execution latencies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NLP Preprocessing &amp; 3-Class Sentiment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502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TEXT TRANSFORMATION PIPELINE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1. Raw Patient Narrative: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Example: "Worked amazing for my migraines, but caused slight nausea."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2. Cleaning &amp; HTML Unescape: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BeautifulSoup unescapes &amp;#039; -&gt; ', regex removes special symbols &amp; noise.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3. TF-IDF Tokenization: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Extracts 10,000 most significant unigrams &amp; bigrams, removes stopwords.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4. Feature Vector: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Outputs high-dimensional numerical sparse matrix ready for ML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109728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3-CLASS SENTIMENT TARGET ENGINE</a:t>
            </a:r>
          </a:p>
          <a:p>
            <a:pPr>
              <a:spcBef>
                <a:spcPts val="1000"/>
              </a:spcBef>
              <a:defRPr sz="1100" b="1">
                <a:solidFill>
                  <a:srgbClr val="EF4444"/>
                </a:solidFill>
              </a:defRPr>
            </a:pPr>
            <a:r>
              <a:t>🔴 Negative (Class 0): Ratings 1.0 – 3.0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Ineffective treatment, severe adverse reactions, patient complaints.</a:t>
            </a:r>
          </a:p>
          <a:p>
            <a:pPr>
              <a:spcBef>
                <a:spcPts val="1000"/>
              </a:spcBef>
              <a:defRPr sz="1100" b="1">
                <a:solidFill>
                  <a:srgbClr val="F59E0B"/>
                </a:solidFill>
              </a:defRPr>
            </a:pPr>
            <a:r>
              <a:t>🟡 Neutral (Class 1): Ratings 4.0 – 6.0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Moderate effectiveness, manageable side effects, mixed outcomes.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🟢 Positive (Class 2): Ratings 7.0 – 10.0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High satisfaction, quick symptom relief, strong recommendation.</a:t>
            </a:r>
          </a:p>
          <a:p>
            <a:pPr>
              <a:spcBef>
                <a:spcPts val="1200"/>
              </a:spcBef>
              <a:defRPr sz="950" b="1">
                <a:solidFill>
                  <a:srgbClr val="1E293B"/>
                </a:solidFill>
              </a:defRPr>
            </a:pPr>
            <a:r>
              <a:t>⭐ Why 3-Class? Binary classification (Positive vs Negative) distorts middle ratings (4-6). 3-Class modeling provides clinically accurate sentiment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Machine Learning Algorithms Benchmarked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17319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Logistic Regression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Linear Baseline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Fast, interpretable, L2-regularized linear model. Primary low-latency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19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rPr dirty="0"/>
              <a:t>Multinomial Naive Bayes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rPr dirty="0"/>
              <a:t>Probabilistic NLP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Fast probabilistic classifier modeling word frequencies across sparse TF-IDF.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109728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417319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rPr dirty="0"/>
              <a:t>Random Forest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rPr dirty="0"/>
              <a:t>Ensemble of Trees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100 decision trees evaluating non-linear feature combinations and word interactions.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09728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886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Gradient Boosted Trees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Boosted Trees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Sequentially trained decision trees with inverse class weighting for imbalance.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49039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3749039"/>
            <a:ext cx="109728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Support Vector Machine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Margin Classifier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Kernel-based margin classifier with calibrated probabilities for smooth confidence.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749039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80" y="3749039"/>
            <a:ext cx="109728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3886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DistilBERT Transformer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Deep Learning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66M parameter pre-trained contextual transformer from Hugging Face for nuanced semantics.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Current Technical Problems vs. Sprint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Problem: App Freezes on Retraining  ➔  Solution: Pre-trained Model Persistence (.joblib)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Save models to disk and use @st.cache_resource to load in &lt; 2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10972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35915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A5E9"/>
                </a:solidFill>
              </a:defRPr>
            </a:pPr>
            <a:r>
              <a:t>Problem: Blank App Startup  ➔  Solution: Bundled 1,000-Row Sample Dataset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Curate data/sample/ so the app works instantly out-of-the-box without manual CSV uploads.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Problem: Binary Oversimplification  ➔  Solution: 3-Class Sentiment Engine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Accurately classify Negative (1-3), Neutral (4-6), and Positive (7-10) reviews.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10972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8B5CF6"/>
                </a:solidFill>
              </a:defRPr>
            </a:pPr>
            <a:r>
              <a:t>Problem: No Single-Review Testing  ➔  Solution: Live Review Analyzer UI Tab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Interactive text input allowing users to test custom sentences with instant confidence bars.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7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5440679"/>
            <a:ext cx="109728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513831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F4444"/>
                </a:solidFill>
              </a:defRPr>
            </a:pPr>
            <a:r>
              <a:t>Problem: Fragile Test Suite  ➔  Solution: Self-Contained Pytest Suite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Build synthetic mock DataFrame fixtures ensuring 100% test pass rate in &lt; 5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Single-Ownership Team Responsibility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502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rPr dirty="0"/>
              <a:t>Samar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rPr dirty="0"/>
              <a:t>Project Lead &amp; ML Architect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rPr dirty="0"/>
              <a:t>CORE DELIVERABLES: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rPr dirty="0"/>
              <a:t>• Curate 1,000-row sample dataset (data/sample/)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rPr dirty="0"/>
              <a:t>• Code reviews, PR merges to develop &amp; main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rPr dirty="0"/>
              <a:t>• Clean legacy hardcoded developer paths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rPr dirty="0"/>
              <a:t>• Clinical edge case validation &amp; release tagging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280160"/>
            <a:ext cx="109728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41732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Manik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Backend &amp; Pipeline Engineer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CORE DELIVERABLES: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Model serialization (joblib save/load)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Streamlit @st.cache_resource caching layer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Single-review inference helper function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Input validation &amp; memory profiling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109728" cy="502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B5CF6"/>
                </a:solidFill>
              </a:defRPr>
            </a:pPr>
            <a:r>
              <a:t>Vrunali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Frontend &amp; UI/UX Developer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CORE DELIVERABLES: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Multi-tab Streamlit redesign (Analytics vs Live)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Demo mode auto-detection banner UI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Real-time sentiment score cards &amp; confidence bars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Responsive testing, tooltips &amp; UI polish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23960" y="1280160"/>
            <a:ext cx="109728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41732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Tejas</a:t>
            </a:r>
          </a:p>
          <a:p>
            <a:pPr>
              <a:spcBef>
                <a:spcPts val="200"/>
              </a:spcBef>
              <a:defRPr sz="1000" b="1">
                <a:solidFill>
                  <a:srgbClr val="1E293B"/>
                </a:solidFill>
              </a:defRPr>
            </a:pPr>
            <a:r>
              <a:t>ML QA &amp; Integration Engineer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CORE DELIVERABLES: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3-class sentiment target mapping &amp; metrics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Synthetic mock DataFrame fixtures (conftest.py)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Pytest unit &amp; integration test suites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Boundary exception testing &amp; QA sign-off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8-Day Sprint Execution Timeline &amp; Phases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344168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EA5E9"/>
                </a:solidFill>
              </a:defRPr>
            </a:pPr>
            <a:r>
              <a:rPr dirty="0"/>
              <a:t>PHASE 1: PARALLEL BUILDING (Days 1 – 4)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• Day 1: Onboarding, local environment setup, UI &amp; test audit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• Day 2: Sample CSV curation, </a:t>
            </a:r>
            <a:r>
              <a:rPr dirty="0" err="1"/>
              <a:t>joblib</a:t>
            </a:r>
            <a:r>
              <a:rPr dirty="0"/>
              <a:t> model saving &amp; mock fixtures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• Day 3: 3-Class sentiment engine, </a:t>
            </a:r>
            <a:r>
              <a:rPr dirty="0" err="1"/>
              <a:t>Streamlit</a:t>
            </a:r>
            <a:r>
              <a:rPr dirty="0"/>
              <a:t> caching &amp; demo banner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• Day 4: Live Review Analyzer form &amp; core </a:t>
            </a:r>
            <a:r>
              <a:rPr dirty="0" err="1"/>
              <a:t>Pytest</a:t>
            </a:r>
            <a:r>
              <a:rPr dirty="0"/>
              <a:t> unit tests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724912"/>
            <a:ext cx="228600" cy="201168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972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102412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rPr dirty="0"/>
              <a:t>PHASE 2: INTEGRATION &amp; WIRING (Day</a:t>
            </a:r>
            <a:r>
              <a:rPr lang="en-IN" dirty="0"/>
              <a:t>s</a:t>
            </a:r>
            <a:r>
              <a:rPr dirty="0"/>
              <a:t> 5</a:t>
            </a:r>
            <a:r>
              <a:rPr lang="en-IN" dirty="0"/>
              <a:t> - 6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• Day 5: </a:t>
            </a:r>
            <a:r>
              <a:rPr lang="en-IN" dirty="0"/>
              <a:t>R</a:t>
            </a:r>
            <a:r>
              <a:rPr dirty="0" err="1"/>
              <a:t>eview</a:t>
            </a:r>
            <a:r>
              <a:rPr dirty="0"/>
              <a:t> PRs and merge features into develop branch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lang="en-IN" dirty="0"/>
              <a:t>	</a:t>
            </a:r>
            <a:r>
              <a:rPr dirty="0"/>
              <a:t>Wire Live Review Analyzer UI to backend inference helper</a:t>
            </a:r>
            <a:endParaRPr lang="en-US" dirty="0"/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lang="en-IN" dirty="0"/>
              <a:t>• Day 6: </a:t>
            </a:r>
            <a:r>
              <a:rPr lang="en-US" dirty="0"/>
              <a:t>Add robust error handling &amp; execute end-to-end integration test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4416552"/>
            <a:ext cx="228600" cy="201168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109728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102412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8B5CF6"/>
                </a:solidFill>
              </a:defRPr>
            </a:pPr>
            <a:r>
              <a:rPr dirty="0"/>
              <a:t>PHASE 3: QA, BUG FIXING &amp; RELEASE (Days </a:t>
            </a:r>
            <a:r>
              <a:rPr lang="en-IN" dirty="0"/>
              <a:t>7</a:t>
            </a:r>
            <a:r>
              <a:rPr dirty="0"/>
              <a:t> – 8)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• Day 6: Clinical edge cases, memory profiling &amp; UI stress testing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• Day 7: Clean legacy hardcoded paths, add logging &amp; 100% test coverage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rPr dirty="0"/>
              <a:t>• Day 8: Merge to main, tag v1.1.0-lean release &amp; QA sign-off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Git Branching &amp; Team Collaboration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3474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691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1. Feature Branch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feature/&lt;name&gt;-&lt;task&gt;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Developers work in isolated branches.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61488" y="2834640"/>
            <a:ext cx="164592" cy="201168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1800" y="128016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0" y="1280160"/>
            <a:ext cx="109728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1417320"/>
            <a:ext cx="1691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2. Local Testing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pytest tests/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100% pass required before opening PR.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01768" y="2834640"/>
            <a:ext cx="164592" cy="201168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12080" y="128016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0" y="1280160"/>
            <a:ext cx="109728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1417320"/>
            <a:ext cx="1691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Code Review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Pull Request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Samar reviews diff (&lt;300 lines) &amp; approves.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42048" y="2834640"/>
            <a:ext cx="164592" cy="201168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52360" y="128016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1280160"/>
            <a:ext cx="109728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1417320"/>
            <a:ext cx="1691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4. develop Branch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Integration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All verified features integrate here cleanly.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82328" y="2834640"/>
            <a:ext cx="164592" cy="201168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92640" y="128016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92640" y="1280160"/>
            <a:ext cx="109728" cy="3474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1417320"/>
            <a:ext cx="1691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5. main Release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v1.1.0-lean Tag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Production release with full QA sign-off.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937760"/>
            <a:ext cx="10972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GOLDEN ENGINEERING RULES FOR THE TEAM: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Test First, Merge Second: Never open a PR without passing pytest locally.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Conventional Commits: Use feat:, fix:, test:, docs: | Keep PRs under 300 lines of diff.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DRUG REVIEW SENTIMENT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Future Product Vision &amp; Post-Sprint Backlog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9728" cy="502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Adverse Drug Reaction (ADR) Extractor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Clinical NER / Regex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</a:defRPr>
            </a:pPr>
            <a:r>
              <a:t>Extract specific side effects (dizziness, nausea, insomnia) directly from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280160"/>
            <a:ext cx="109728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46304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BioBERT / ClinicalBERT Transformer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Biomedical Deep Learning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</a:defRPr>
            </a:pPr>
            <a:r>
              <a:t>Fine-tune clinical transformers for superior healthcare and pharmacology vocabulary.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109728" cy="502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Condition-Based Smart Recommender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Composite Ranking Engine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</a:defRPr>
            </a:pPr>
            <a:r>
              <a:t>Bayesian-weighted scoring combining sentiment polarity, ratings, and useful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23960" y="1280160"/>
            <a:ext cx="109728" cy="5029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463040"/>
            <a:ext cx="2240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FastAPI Microservice &amp; Docker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</a:defRPr>
            </a:pPr>
            <a:r>
              <a:t>Cloud &amp; Deployment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</a:defRPr>
            </a:pPr>
            <a:r>
              <a:t>Standalone REST API endpoints (/predict, /health) containerized for one-click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NEXT STEPS &amp; IMMEDIATE ACTION ITEMS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Sprint Kickoff: Immediate Day 1 Action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9728" cy="3931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Samar</a:t>
            </a:r>
          </a:p>
          <a:p>
            <a:pPr>
              <a:spcBef>
                <a:spcPts val="200"/>
              </a:spcBef>
              <a:defRPr sz="1000" b="1">
                <a:solidFill>
                  <a:srgbClr val="0EA5E9"/>
                </a:solidFill>
              </a:defRPr>
            </a:pPr>
            <a:r>
              <a:t>Project Lead</a:t>
            </a:r>
          </a:p>
          <a:p>
            <a:pPr>
              <a:spcBef>
                <a:spcPts val="1000"/>
              </a:spcBef>
              <a:defRPr sz="900" b="1">
                <a:solidFill>
                  <a:srgbClr val="94A3B8"/>
                </a:solidFill>
              </a:defRPr>
            </a:pPr>
            <a:r>
              <a:t>IMMEDIATE DAY 1 GOAL: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Initialize feature branches, invite team members &amp; curate sample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66160" y="2103120"/>
            <a:ext cx="109728" cy="3931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22860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Manik</a:t>
            </a:r>
          </a:p>
          <a:p>
            <a:pPr>
              <a:spcBef>
                <a:spcPts val="200"/>
              </a:spcBef>
              <a:defRPr sz="1000" b="1">
                <a:solidFill>
                  <a:srgbClr val="10B981"/>
                </a:solidFill>
              </a:defRPr>
            </a:pPr>
            <a:r>
              <a:t>Backend ML</a:t>
            </a:r>
          </a:p>
          <a:p>
            <a:pPr>
              <a:spcBef>
                <a:spcPts val="1000"/>
              </a:spcBef>
              <a:defRPr sz="900" b="1">
                <a:solidFill>
                  <a:srgbClr val="94A3B8"/>
                </a:solidFill>
              </a:defRPr>
            </a:pPr>
            <a:r>
              <a:t>IMMEDIATE DAY 1 GOAL: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Set up virtualenv, audit ml_pipeline/ &amp; design joblib persistence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109728" cy="3931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Vrunali</a:t>
            </a:r>
          </a:p>
          <a:p>
            <a:pPr>
              <a:spcBef>
                <a:spcPts val="200"/>
              </a:spcBef>
              <a:defRPr sz="1000" b="1">
                <a:solidFill>
                  <a:srgbClr val="8B5CF6"/>
                </a:solidFill>
              </a:defRPr>
            </a:pPr>
            <a:r>
              <a:t>Frontend UI</a:t>
            </a:r>
          </a:p>
          <a:p>
            <a:pPr>
              <a:spcBef>
                <a:spcPts val="1000"/>
              </a:spcBef>
              <a:defRPr sz="900" b="1">
                <a:solidFill>
                  <a:srgbClr val="94A3B8"/>
                </a:solidFill>
              </a:defRPr>
            </a:pPr>
            <a:r>
              <a:t>IMMEDIATE DAY 1 GOAL: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Launch Streamlit locally, audit UI bottlenecks &amp; wireframe multi-tab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0" y="2103120"/>
            <a:ext cx="109728" cy="3931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59" y="228600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Tejas</a:t>
            </a:r>
          </a:p>
          <a:p>
            <a:pPr>
              <a:spcBef>
                <a:spcPts val="200"/>
              </a:spcBef>
              <a:defRPr sz="1000" b="1">
                <a:solidFill>
                  <a:srgbClr val="F59E0B"/>
                </a:solidFill>
              </a:defRPr>
            </a:pPr>
            <a:r>
              <a:t>ML &amp; QA</a:t>
            </a:r>
          </a:p>
          <a:p>
            <a:pPr>
              <a:spcBef>
                <a:spcPts val="1000"/>
              </a:spcBef>
              <a:defRPr sz="900" b="1">
                <a:solidFill>
                  <a:srgbClr val="94A3B8"/>
                </a:solidFill>
              </a:defRPr>
            </a:pPr>
            <a:r>
              <a:t>IMMEDIATE DAY 1 GOAL: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Audit test suite, build synthetic mock DataFrame fixtures in conftest.py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1980</Words>
  <Application>Microsoft Office PowerPoint</Application>
  <PresentationFormat>Widescreen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Samar Shetye</cp:lastModifiedBy>
  <cp:revision>5</cp:revision>
  <dcterms:created xsi:type="dcterms:W3CDTF">2013-01-27T09:14:16Z</dcterms:created>
  <dcterms:modified xsi:type="dcterms:W3CDTF">2026-09-24T13:36:21Z</dcterms:modified>
  <cp:category/>
</cp:coreProperties>
</file>